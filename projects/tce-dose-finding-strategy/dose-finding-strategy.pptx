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isions" id="{cbae159f-a9a0-bb80-ad4e-52232e73b5e1}">
          <p14:sldIdLst>
            <p14:sldId id="256"/>
            <p14:sldId id="257"/>
          </p14:sldIdLst>
        </p14:section>
        <p14:section name="Phase 2b doses and milestones" id="{67857eab-d890-40b4-afbe-b2f4a406ad3b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RATEG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008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The program on these slides is invented. No number here is a measurement, and nothing here describes a real T-cell engager.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ABC123 dose-finding strategy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Program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BX-401, CD20xCD3 T-cell engager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   ·  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Indication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relapsed follicular lymphoma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   ·  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Stage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end of escalation, entering expansion</a:t>
            </a:r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Revised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2026-09-11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   ·  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Next revision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?</a:t>
            </a:r>
            <a:endParaRPr lang="en-US" sz="1400" dirty="0"/>
          </a:p>
        </p:txBody>
      </p:sp>
      <p:sp>
        <p:nvSpPr>
          <p:cNvPr id="4" name="Objectives"/>
          <p:cNvSpPr txBox="1"/>
          <p:nvPr/>
        </p:nvSpPr>
        <p:spPr>
          <a:xfrm>
            <a:off x="457200" y="1463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Phase 1b key objectives: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Characterize safety, PK, PD and preliminary activity across the dose range. Identify a dose that safely depletes in tissue.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Phase 2b key objectives: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Evaluate a dose that leads to close to 100% target cell depletion. Also evaluate a dose with less depletion, in case safety is improved without compromising efficacy.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Dose decisions</a:t>
            </a:r>
            <a:endParaRPr lang="en-US" sz="2000" dirty="0"/>
          </a:p>
        </p:txBody>
      </p:sp>
      <p:graphicFrame>
        <p:nvGraphicFramePr>
          <p:cNvPr id="2" name="Dose decis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61488"/>
          <a:ext cx="11274552" cy="914400"/>
        </p:xfrm>
        <a:graphic>
          <a:graphicData uri="http://schemas.openxmlformats.org/drawingml/2006/table">
            <a:tbl>
              <a:tblPr/>
              <a:tblGrid>
                <a:gridCol w="1691183"/>
                <a:gridCol w="4397075"/>
                <a:gridCol w="1352946"/>
                <a:gridCol w="2142165"/>
                <a:gridCol w="1691183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Position and evidence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State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Team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Needed for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Stop escalation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Stop at 120 mg or at a depletion plateau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Exposure-response on B-cell depletion and response rate</a:t>
                      </a:r>
                      <a:endParaRPr lang="en-US" sz="1400" dirty="0"/>
                    </a:p>
                  </a:txBody>
                  <a:tcPr marL="63500" marR="63500" marT="25400" marB="25400" anchor="t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◐ Provisional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⚠️ Split: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disease team wants 240 mg explored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Phase 1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at the 120 mg cohort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Expansion criteria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Expand a dose with near-complete peripheral B-cell depletion and manageable CRS; 30 and 120 mg qualify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Escalation PK and depletion; expansion slots are the constraint</a:t>
                      </a:r>
                      <a:endParaRPr lang="en-US" sz="1400" dirty="0"/>
                    </a:p>
                  </a:txBody>
                  <a:tcPr marL="63500" marR="63500" marT="25400" marB="25400" anchor="t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◐ Provisional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✅ Agreed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Phase 1 expansion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Nov 2026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Number of Phase 2b doses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full doses, randomized against each other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Project Optimus expects a randomized comparison of more than one dose</a:t>
                      </a:r>
                      <a:endParaRPr lang="en-US" sz="1400" dirty="0"/>
                    </a:p>
                  </a:txBody>
                  <a:tcPr marL="63500" marR="63500" marT="25400" marB="25400" anchor="t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◐ Provisional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✅ Agreed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Phase 2b protocol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Q1 2027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Which Phase 2b doses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near complete depletion, one lower; TBD among 30, 60, 120 mg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⏰ </a:t>
                      </a:r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4"/>
                          </a:solidFill>
                        </a:rPr>
                        <a:t>Expansion exposure-response at the Q3 2027 interim</a:t>
                      </a:r>
                      <a:endParaRPr lang="en-US" sz="1400" dirty="0"/>
                    </a:p>
                  </a:txBody>
                  <a:tcPr marL="63500" marR="63500" marT="25400" marB="25400" anchor="t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○ Open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– Not asked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Phase 2b protocol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Q1 2027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Legend 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○ Open   ◐ Provisional   ● Locked   ·   ✅ Agreed   ⚠️ Split   – Not asked   ·   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⏰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evidence lands after the milestone it is needed for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Regimen decisions</a:t>
            </a:r>
            <a:endParaRPr lang="en-US" sz="2800" dirty="0"/>
          </a:p>
        </p:txBody>
      </p:sp>
      <p:graphicFrame>
        <p:nvGraphicFramePr>
          <p:cNvPr id="3" name="Regimen decis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74552" cy="914400"/>
        </p:xfrm>
        <a:graphic>
          <a:graphicData uri="http://schemas.openxmlformats.org/drawingml/2006/table">
            <a:tbl>
              <a:tblPr/>
              <a:tblGrid>
                <a:gridCol w="1691183"/>
                <a:gridCol w="4397075"/>
                <a:gridCol w="1352946"/>
                <a:gridCol w="2142165"/>
                <a:gridCol w="1691183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Position and evidence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State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Team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Needed for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Step-up levels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 / 3 / 15 mg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⏰ </a:t>
                      </a:r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4"/>
                          </a:solidFill>
                        </a:rPr>
                        <a:t>CRS by step, cohorts 1–6; reads out Feb 2027</a:t>
                      </a:r>
                      <a:endParaRPr lang="en-US" sz="1400" dirty="0"/>
                    </a:p>
                  </a:txBody>
                  <a:tcPr marL="63500" marR="63500" marT="25400" marB="25400" anchor="t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● Locked (~3 mo to amend)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⚠️ Split: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Translational wants 2 steps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Phase 2b protocol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Q1 2027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Premedication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Dexamethasone before each step-up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⏰ </a:t>
                      </a:r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4"/>
                          </a:solidFill>
                        </a:rPr>
                        <a:t>Pooled CRS by premed use; not randomized, so confounded</a:t>
                      </a:r>
                      <a:endParaRPr lang="en-US" sz="1400" dirty="0"/>
                    </a:p>
                  </a:txBody>
                  <a:tcPr marL="63500" marR="63500" marT="25400" marB="25400" anchor="t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◐ Provisional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⚠️ Split: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Safety wants it before full doses too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Phase 2b protocol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Q1 2027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Monitoring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Overnight after each step-up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CRS onset times from expansion</a:t>
                      </a:r>
                      <a:endParaRPr lang="en-US" sz="1400" dirty="0"/>
                    </a:p>
                  </a:txBody>
                  <a:tcPr marL="63500" marR="63500" marT="25400" marB="25400" anchor="t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◐ Provisional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– Not asked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Phase 2b protocol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Q1 2027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Re-priming after a gap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Restart full step-up after &gt;6 weeks missed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⏰ </a:t>
                      </a:r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4"/>
                          </a:solidFill>
                        </a:rPr>
                        <a:t>Class precedent only; no program data planned</a:t>
                      </a:r>
                      <a:endParaRPr lang="en-US" sz="1400" dirty="0"/>
                    </a:p>
                  </a:txBody>
                  <a:tcPr marL="63500" marR="63500" marT="25400" marB="25400" anchor="t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○ Open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– Not asked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Phase 2b protocol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Q1 2027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Full-dose interval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Q2W after cycle 3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⏰ </a:t>
                      </a:r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4"/>
                          </a:solidFill>
                        </a:rPr>
                        <a:t>PK simulation only; no program data on Q2W</a:t>
                      </a:r>
                      <a:endParaRPr lang="en-US" sz="1400" dirty="0"/>
                    </a:p>
                  </a:txBody>
                  <a:tcPr marL="63500" marR="63500" marT="25400" marB="25400" anchor="t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○ Open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– Not asked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Phase 2b protocol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Q1 2027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Maintenance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 assumed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</a:rPr>
                        <a:t>⏰ </a:t>
                      </a:r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4"/>
                          </a:solidFill>
                        </a:rPr>
                        <a:t>Nothing planned that would answer it</a:t>
                      </a:r>
                      <a:endParaRPr lang="en-US" sz="1400" dirty="0"/>
                    </a:p>
                  </a:txBody>
                  <a:tcPr marL="63500" marR="63500" marT="25400" marB="25400" anchor="t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○ Open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⚠️ Split: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Late Dev assumes maintenance in the Ph3 plan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Phase 3 protocol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2028</a:t>
                      </a:r>
                      <a:endParaRPr lang="en-US" sz="14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0749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Legend 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○ Open   ◐ Provisional   ● Locked   ·   ✅ Agreed   ⚠️ Split   – Not asked   ·   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⏰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evidence lands after the milestone it is needed for</a:t>
            </a:r>
            <a:endParaRPr lang="en-US" sz="1400" dirty="0"/>
          </a:p>
        </p:txBody>
      </p:sp>
      <p:sp>
        <p:nvSpPr>
          <p:cNvPr id="5" name="Settled strip"/>
          <p:cNvSpPr txBox="1"/>
          <p:nvPr/>
        </p:nvSpPr>
        <p:spPr>
          <a:xfrm>
            <a:off x="457200" y="5440680"/>
            <a:ext cx="11274552" cy="8229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Settled.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Starting dose 0.5 mg, MABEL-derived   ·   subcutaneous fixed dose   ·   3 step-up doses   ·   7 days between step-ups and to the first full dose. All locked at protocol v1, 2025-03.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Phase 2b doses, escalation rules and milestones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2b doses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many: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2, randomized   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Which: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TBD among Low, Mid, High</a:t>
            </a:r>
            <a:endParaRPr lang="en-US" sz="1600" dirty="0"/>
          </a:p>
        </p:txBody>
      </p:sp>
      <p:sp>
        <p:nvSpPr>
          <p:cNvPr id="5" name="Candidate Low"/>
          <p:cNvSpPr/>
          <p:nvPr/>
        </p:nvSpPr>
        <p:spPr>
          <a:xfrm>
            <a:off x="457200" y="1737360"/>
            <a:ext cx="1889760" cy="2057400"/>
          </a:xfrm>
          <a:prstGeom prst="roundRect">
            <a:avLst>
              <a:gd name="adj" fmla="val 3871"/>
            </a:avLst>
          </a:prstGeom>
          <a:solidFill>
            <a:schemeClr val="accent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847088"/>
            <a:ext cx="161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LOW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84832"/>
            <a:ext cx="161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mg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42032"/>
            <a:ext cx="161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~0.4× exposure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07208"/>
            <a:ext cx="161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Lower end of the effective range; no overnight stay</a:t>
            </a:r>
            <a:endParaRPr lang="en-US" sz="1400" dirty="0"/>
          </a:p>
        </p:txBody>
      </p:sp>
      <p:sp>
        <p:nvSpPr>
          <p:cNvPr id="10" name="Candidate Mid"/>
          <p:cNvSpPr/>
          <p:nvPr/>
        </p:nvSpPr>
        <p:spPr>
          <a:xfrm>
            <a:off x="2529840" y="1737360"/>
            <a:ext cx="1889760" cy="2057400"/>
          </a:xfrm>
          <a:prstGeom prst="roundRect">
            <a:avLst>
              <a:gd name="adj" fmla="val 3871"/>
            </a:avLst>
          </a:prstGeom>
          <a:solidFill>
            <a:schemeClr val="accent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67000" y="1847088"/>
            <a:ext cx="161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MID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67000" y="2084832"/>
            <a:ext cx="161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mg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2667000" y="2542032"/>
            <a:ext cx="161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~0.7× exposure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67000" y="2807208"/>
            <a:ext cx="161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Intermediate; not yet given to any patient</a:t>
            </a:r>
            <a:endParaRPr lang="en-US" sz="1400" dirty="0"/>
          </a:p>
        </p:txBody>
      </p:sp>
      <p:sp>
        <p:nvSpPr>
          <p:cNvPr id="15" name="Candidate High"/>
          <p:cNvSpPr/>
          <p:nvPr/>
        </p:nvSpPr>
        <p:spPr>
          <a:xfrm>
            <a:off x="4602480" y="1737360"/>
            <a:ext cx="1889760" cy="2057400"/>
          </a:xfrm>
          <a:prstGeom prst="roundRect">
            <a:avLst>
              <a:gd name="adj" fmla="val 3871"/>
            </a:avLst>
          </a:prstGeom>
          <a:solidFill>
            <a:schemeClr val="accent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39640" y="1847088"/>
            <a:ext cx="161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HIGH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39640" y="2084832"/>
            <a:ext cx="161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mg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739640" y="2542032"/>
            <a:ext cx="1615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reference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39640" y="2807208"/>
            <a:ext cx="161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Near-complete depletion; characterized in expansion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Why this number and spread.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dose near complete depletion and one that depletes less, in case safety improves without losing efficacy. Three-fold apart in exposure is enough for exposure-response. Low with High, unless the Q3 2027 interim shows Low short of adequate activity.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914400"/>
            <a:ext cx="4782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Escalate, expand, stop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49440" y="141732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494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↑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79792" y="137160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Escalate when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safety over 21 days is acceptable, CRS is manageable with current premedication, exposure is below target, and B-cell depletion is incomplete.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49440" y="2514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494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79792" y="246888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Expand when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dose is in a plausible therapeutic range and the next decision needs more patients, not more dose levels.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49440" y="338328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494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■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479792" y="333756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Stop escalating when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depletion is complete and sustained, response rate has plateaued with exposure, or toxicity exceeds the protocol limit. No MTD is needed.</a:t>
            </a:r>
            <a:endParaRPr lang="en-US" sz="1400" dirty="0"/>
          </a:p>
        </p:txBody>
      </p:sp>
      <p:sp>
        <p:nvSpPr>
          <p:cNvPr id="31" name="Milestone Protocol"/>
          <p:cNvSpPr/>
          <p:nvPr/>
        </p:nvSpPr>
        <p:spPr>
          <a:xfrm>
            <a:off x="457200" y="5074920"/>
            <a:ext cx="1924812" cy="685800"/>
          </a:xfrm>
          <a:prstGeom prst="homePlate">
            <a:avLst/>
          </a:prstGeom>
          <a:solidFill>
            <a:schemeClr val="accent5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5074920"/>
            <a:ext cx="13761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Protocol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2025-03 ✓</a:t>
            </a:r>
            <a:endParaRPr lang="en-US" sz="1400" dirty="0"/>
          </a:p>
        </p:txBody>
      </p:sp>
      <p:sp>
        <p:nvSpPr>
          <p:cNvPr id="33" name="Milestone Escalation"/>
          <p:cNvSpPr/>
          <p:nvPr/>
        </p:nvSpPr>
        <p:spPr>
          <a:xfrm>
            <a:off x="2336292" y="5074920"/>
            <a:ext cx="1924812" cy="685800"/>
          </a:xfrm>
          <a:prstGeom prst="chevron">
            <a:avLst/>
          </a:prstGeom>
          <a:solidFill>
            <a:schemeClr val="accent5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47772" y="5074920"/>
            <a:ext cx="13761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Escalation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 cohort</a:t>
            </a:r>
            <a:endParaRPr lang="en-US" sz="1400" dirty="0"/>
          </a:p>
        </p:txBody>
      </p:sp>
      <p:sp>
        <p:nvSpPr>
          <p:cNvPr id="35" name="Milestone Phase 1 expansion"/>
          <p:cNvSpPr/>
          <p:nvPr/>
        </p:nvSpPr>
        <p:spPr>
          <a:xfrm>
            <a:off x="4215384" y="5074920"/>
            <a:ext cx="1924812" cy="685800"/>
          </a:xfrm>
          <a:prstGeom prst="chevron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26864" y="5074920"/>
            <a:ext cx="13761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Phase 1 expansion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Nov 2026</a:t>
            </a:r>
            <a:endParaRPr lang="en-US" sz="1400" dirty="0"/>
          </a:p>
        </p:txBody>
      </p:sp>
      <p:sp>
        <p:nvSpPr>
          <p:cNvPr id="37" name="Milestone Phase 2b protocol"/>
          <p:cNvSpPr/>
          <p:nvPr/>
        </p:nvSpPr>
        <p:spPr>
          <a:xfrm>
            <a:off x="6094476" y="5074920"/>
            <a:ext cx="1924812" cy="685800"/>
          </a:xfrm>
          <a:prstGeom prst="chevron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05956" y="5074920"/>
            <a:ext cx="13761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Phase 2b protocol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Q1 2027</a:t>
            </a:r>
            <a:endParaRPr lang="en-US" sz="1400" dirty="0"/>
          </a:p>
        </p:txBody>
      </p:sp>
      <p:sp>
        <p:nvSpPr>
          <p:cNvPr id="39" name="Milestone Phase 3 protocol"/>
          <p:cNvSpPr/>
          <p:nvPr/>
        </p:nvSpPr>
        <p:spPr>
          <a:xfrm>
            <a:off x="7973568" y="5074920"/>
            <a:ext cx="1924812" cy="685800"/>
          </a:xfrm>
          <a:prstGeom prst="chevron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85048" y="5074920"/>
            <a:ext cx="13761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Phase 3 protocol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2028</a:t>
            </a:r>
            <a:endParaRPr lang="en-US" sz="1400" dirty="0"/>
          </a:p>
        </p:txBody>
      </p:sp>
      <p:sp>
        <p:nvSpPr>
          <p:cNvPr id="41" name="Milestone Submission"/>
          <p:cNvSpPr/>
          <p:nvPr/>
        </p:nvSpPr>
        <p:spPr>
          <a:xfrm>
            <a:off x="9852660" y="5074920"/>
            <a:ext cx="1924812" cy="685800"/>
          </a:xfrm>
          <a:prstGeom prst="chevron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264140" y="5074920"/>
            <a:ext cx="13761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Submission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regimen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585216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⏰ Critical path.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Which Phase 2b doses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is needed in Q1 2027; its evidence arrives Q3 2027.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Full-dose interval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and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re-priming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have no planned evidence and will be decided on prior information.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se-finding strategy">
  <a:themeElements>
    <a:clrScheme name="Dose-finding strategy">
      <a:dk1>
        <a:srgbClr val="1B2631"/>
      </a:dk1>
      <a:lt1>
        <a:srgbClr val="FFFFFF"/>
      </a:lt1>
      <a:dk2>
        <a:srgbClr val="1F4E5F"/>
      </a:dk2>
      <a:lt2>
        <a:srgbClr val="EEF3F5"/>
      </a:lt2>
      <a:accent1>
        <a:srgbClr val="1F4E5F"/>
      </a:accent1>
      <a:accent2>
        <a:srgbClr val="B86E12"/>
      </a:accent2>
      <a:accent3>
        <a:srgbClr val="2E7D4F"/>
      </a:accent3>
      <a:accent4>
        <a:srgbClr val="B03A2E"/>
      </a:accent4>
      <a:accent5>
        <a:srgbClr val="6B7B85"/>
      </a:accent5>
      <a:accent6>
        <a:srgbClr val="CFE2E8"/>
      </a:accent6>
      <a:hlink>
        <a:srgbClr val="1F4E5F"/>
      </a:hlink>
      <a:folHlink>
        <a:srgbClr val="6B7B85"/>
      </a:folHlink>
    </a:clrScheme>
    <a:fontScheme name="Dose-finding strateg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ABC123 dose-finding strategy</dc:title>
  <dc:subject>PptxGenJS Presentation</dc:subject>
  <dc:creator>PptxGenJS</dc:creator>
  <cp:lastModifiedBy>PptxGenJS</cp:lastModifiedBy>
  <cp:revision>1</cp:revision>
  <dcterms:created xsi:type="dcterms:W3CDTF">2026-10-30T15:24:57Z</dcterms:created>
  <dcterms:modified xsi:type="dcterms:W3CDTF">2026-10-30T15:24:57Z</dcterms:modified>
</cp:coreProperties>
</file>